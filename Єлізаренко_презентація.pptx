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26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30E7-D4AC-8603-ADBA-F48F010DD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C5C2A-F445-496A-8618-35C5D0880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D45B7-72AD-219B-6001-38E8DD663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79060-AD68-8FE3-D685-BF588A56C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80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Програмна система управління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інфраструктурою громадського транспорту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робота бакалавра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Єлізаренко Олександр Андрійович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ПЗПІ-22-10 · Спеціальність 121 – Інженерія програмного забезпечення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Науковий керівник: доц. Сергій МАР'ЇН · ХНУРЕ,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 роботи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потрібна нова система?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3931920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1005840"/>
            <a:ext cx="3931920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Існуючі проблеми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Maps, Moovit, EasyWay — орієнтовані лише на пасажирів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Відсутні інструменти централізованого управління маршрутами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5054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Немає аналітики ефективності та прогнозування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Закрита архітектура у комерційних рішень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5295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Складне та дороге впровадження TransitMaster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Єдина система для пасажирів, диспетчерів і адміністраторів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Відстеження транспорту у режимі реального часу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25054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Управління маршрутами, зупинками, розкладами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AI-асистент на базі LLM із RAG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35295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Масштабованість для малих та середніх міст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Трирівнева клієнт-серверна модель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96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Клієнтський рівень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9966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(React.js + Material UI) 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5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709928"/>
            <a:ext cx="832104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46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7465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· REST · WebSocket · JWT Auth · OpenAPI / Swagger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350008"/>
            <a:ext cx="365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59736"/>
            <a:ext cx="83210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96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Бізнес-логіка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4963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· RAG Module · PII Detection · Retry Logic · Analytics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099816"/>
            <a:ext cx="365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209544"/>
            <a:ext cx="83210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даних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32461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SQLAlchemy + Alembic · Redis (кеш / діалоги) · ChromaDB (вектори)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849624"/>
            <a:ext cx="365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959352"/>
            <a:ext cx="832104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995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Llama 3.2 8B (LoRA fine-tuned, 4-bit) · Embeddings · ChromaDB · Modal Cloud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інструментів та обґрунтування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4114800" cy="5486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42416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25272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 обробка запитів, автогенерація Swagger/OpenAPI, валідація через Pydantic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87552"/>
            <a:ext cx="4114800" cy="5486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42416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25272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Надійна реляційна БД для складних звязків транспортної мережі, підтримка великих обсягів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609344"/>
            <a:ext cx="4114800" cy="5486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66420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Alembic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18745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для роботи з обєктами Python, контроль версій структури БД через міграції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609344"/>
            <a:ext cx="4114800" cy="5486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66420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Material 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18745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Компонентний підхід, часткове оновлення DOM, готові елементи дизайну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" y="22860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" y="249631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231136"/>
            <a:ext cx="4114800" cy="5486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2860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249631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БД для кешування та зберігання діалогів з AI (з TTL)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852928"/>
            <a:ext cx="4114800" cy="5486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290779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WebSocket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" y="31181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Безстанна автентифікація; передача GPS-даних транспорту в реальному часі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852928"/>
            <a:ext cx="4114800" cy="5486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90779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Vercel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31181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Хмарне розгортання backend і frontend, CI/CD без власних серверів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CD95-6F94-5684-46C7-4C040575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57BB58-0EEC-C091-4E90-A4FA11204A2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24E2C1-8BE7-C34C-8819-D0C648548FE5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4AAB2B-0289-461B-2491-B90CDBCBD012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794E2F-5E7E-5A78-5378-6399F90E9D63}"/>
              </a:ext>
            </a:extLst>
          </p:cNvPr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 та недоліки обраних інструментів</a:t>
            </a:r>
            <a:endParaRPr lang="en-US" sz="1200" dirty="0"/>
          </a:p>
        </p:txBody>
      </p:sp>
      <p:graphicFrame>
        <p:nvGraphicFramePr>
          <p:cNvPr id="30" name="Таблица 29">
            <a:extLst>
              <a:ext uri="{FF2B5EF4-FFF2-40B4-BE49-F238E27FC236}">
                <a16:creationId xmlns:a16="http://schemas.microsoft.com/office/drawing/2014/main" id="{BE21FE98-BE7E-7946-E175-AB0E25170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054123"/>
              </p:ext>
            </p:extLst>
          </p:nvPr>
        </p:nvGraphicFramePr>
        <p:xfrm>
          <a:off x="411480" y="891159"/>
          <a:ext cx="8549640" cy="4535805"/>
        </p:xfrm>
        <a:graphic>
          <a:graphicData uri="http://schemas.openxmlformats.org/drawingml/2006/table">
            <a:tbl>
              <a:tblPr/>
              <a:tblGrid>
                <a:gridCol w="1916762">
                  <a:extLst>
                    <a:ext uri="{9D8B030D-6E8A-4147-A177-3AD203B41FA5}">
                      <a16:colId xmlns:a16="http://schemas.microsoft.com/office/drawing/2014/main" val="3176108779"/>
                    </a:ext>
                  </a:extLst>
                </a:gridCol>
                <a:gridCol w="3316439">
                  <a:extLst>
                    <a:ext uri="{9D8B030D-6E8A-4147-A177-3AD203B41FA5}">
                      <a16:colId xmlns:a16="http://schemas.microsoft.com/office/drawing/2014/main" val="460169569"/>
                    </a:ext>
                  </a:extLst>
                </a:gridCol>
                <a:gridCol w="3316439">
                  <a:extLst>
                    <a:ext uri="{9D8B030D-6E8A-4147-A177-3AD203B41FA5}">
                      <a16:colId xmlns:a16="http://schemas.microsoft.com/office/drawing/2014/main" val="769806553"/>
                    </a:ext>
                  </a:extLst>
                </a:gridCol>
              </a:tblGrid>
              <a:tr h="2555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uk-UA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uk-UA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uk-UA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68150"/>
                  </a:ext>
                </a:extLst>
              </a:tr>
              <a:tr h="76550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uk-UA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393820"/>
                  </a:ext>
                </a:extLst>
              </a:tr>
              <a:tr h="5229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uk-UA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123989"/>
                  </a:ext>
                </a:extLst>
              </a:tr>
              <a:tr h="40172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uk-UA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666838"/>
                  </a:ext>
                </a:extLst>
              </a:tr>
              <a:tr h="5229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390643"/>
                  </a:ext>
                </a:extLst>
              </a:tr>
              <a:tr h="644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514687"/>
                  </a:ext>
                </a:extLst>
              </a:tr>
              <a:tr h="5229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374015"/>
                  </a:ext>
                </a:extLst>
              </a:tr>
              <a:tr h="2555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654158"/>
                  </a:ext>
                </a:extLst>
              </a:tr>
              <a:tr h="644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100" dirty="0"/>
                    </a:p>
                  </a:txBody>
                  <a:tcPr marL="28617" marR="28617" marT="14308" marB="14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861640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73C50A5F-4959-A5EF-9432-082E9FA81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60477"/>
              </p:ext>
            </p:extLst>
          </p:nvPr>
        </p:nvGraphicFramePr>
        <p:xfrm>
          <a:off x="182880" y="954828"/>
          <a:ext cx="8961120" cy="3836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451">
                  <a:extLst>
                    <a:ext uri="{9D8B030D-6E8A-4147-A177-3AD203B41FA5}">
                      <a16:colId xmlns:a16="http://schemas.microsoft.com/office/drawing/2014/main" val="2245315752"/>
                    </a:ext>
                  </a:extLst>
                </a:gridCol>
                <a:gridCol w="4449260">
                  <a:extLst>
                    <a:ext uri="{9D8B030D-6E8A-4147-A177-3AD203B41FA5}">
                      <a16:colId xmlns:a16="http://schemas.microsoft.com/office/drawing/2014/main" val="2590603120"/>
                    </a:ext>
                  </a:extLst>
                </a:gridCol>
                <a:gridCol w="2925409">
                  <a:extLst>
                    <a:ext uri="{9D8B030D-6E8A-4147-A177-3AD203B41FA5}">
                      <a16:colId xmlns:a16="http://schemas.microsoft.com/office/drawing/2014/main" val="1828068103"/>
                    </a:ext>
                  </a:extLst>
                </a:gridCol>
              </a:tblGrid>
              <a:tr h="45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/>
                        <a:t>Технологія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/>
                        <a:t>Переваги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/>
                        <a:t>Недоліки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023662"/>
                  </a:ext>
                </a:extLst>
              </a:tr>
              <a:tr h="735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FastAPI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/>
                        <a:t>Висока продуктивність, асинхронна обробка, автоматична документація </a:t>
                      </a:r>
                      <a:r>
                        <a:rPr lang="en-US" sz="1100" dirty="0" err="1"/>
                        <a:t>OpenAPI</a:t>
                      </a:r>
                      <a:r>
                        <a:rPr lang="en-US" sz="1100" dirty="0"/>
                        <a:t>, </a:t>
                      </a:r>
                      <a:r>
                        <a:rPr lang="uk-UA" sz="1100" dirty="0"/>
                        <a:t>проста інтеграція з </a:t>
                      </a:r>
                      <a:r>
                        <a:rPr lang="en-US" sz="1100" dirty="0"/>
                        <a:t>Python AI-</a:t>
                      </a:r>
                      <a:r>
                        <a:rPr lang="uk-UA" sz="1100" dirty="0"/>
                        <a:t>бібліотеками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/>
                        <a:t>Молодший</a:t>
                      </a:r>
                      <a:r>
                        <a:rPr lang="ru-RU" sz="1100" dirty="0"/>
                        <a:t> за </a:t>
                      </a:r>
                      <a:r>
                        <a:rPr lang="ru-RU" sz="1100" dirty="0" err="1"/>
                        <a:t>Django</a:t>
                      </a:r>
                      <a:r>
                        <a:rPr lang="ru-RU" sz="1100" dirty="0"/>
                        <a:t>, </a:t>
                      </a:r>
                      <a:r>
                        <a:rPr lang="ru-RU" sz="1100" dirty="0" err="1"/>
                        <a:t>менше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готових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модулів</a:t>
                      </a:r>
                      <a:endParaRPr lang="ru-RU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123956"/>
                  </a:ext>
                </a:extLst>
              </a:tr>
              <a:tr h="528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PostgreSQL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/>
                        <a:t>Надійність, </a:t>
                      </a:r>
                      <a:r>
                        <a:rPr lang="en-US" sz="1100" dirty="0"/>
                        <a:t>ACID-</a:t>
                      </a:r>
                      <a:r>
                        <a:rPr lang="uk-UA" sz="1100" dirty="0"/>
                        <a:t>транзакції, складні </a:t>
                      </a:r>
                      <a:r>
                        <a:rPr lang="en-US" sz="1100" dirty="0"/>
                        <a:t>SQL-</a:t>
                      </a:r>
                      <a:r>
                        <a:rPr lang="uk-UA" sz="1100" dirty="0"/>
                        <a:t>запити, масштабованість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/>
                        <a:t>Більш складне адміністрування порівняно з </a:t>
                      </a:r>
                      <a:r>
                        <a:rPr lang="en-US" sz="1100"/>
                        <a:t>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199381"/>
                  </a:ext>
                </a:extLst>
              </a:tr>
              <a:tr h="528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SQLAlchemy + Alembic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/>
                        <a:t>Зручна </a:t>
                      </a:r>
                      <a:r>
                        <a:rPr lang="en-US" sz="1100" dirty="0"/>
                        <a:t>ORM, </a:t>
                      </a:r>
                      <a:r>
                        <a:rPr lang="uk-UA" sz="1100" dirty="0"/>
                        <a:t>міграції схеми БД, підтримка різних СУБД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/>
                        <a:t>Вища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складність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налаштування</a:t>
                      </a:r>
                      <a:r>
                        <a:rPr lang="ru-RU" sz="1100" dirty="0"/>
                        <a:t> та </a:t>
                      </a:r>
                      <a:r>
                        <a:rPr lang="ru-RU" sz="1100" dirty="0" err="1"/>
                        <a:t>навчання</a:t>
                      </a:r>
                      <a:endParaRPr lang="ru-RU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702196"/>
                  </a:ext>
                </a:extLst>
              </a:tr>
              <a:tr h="528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React + Material UI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/>
                        <a:t>Компонентна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архітектура</a:t>
                      </a:r>
                      <a:r>
                        <a:rPr lang="ru-RU" sz="1100" dirty="0"/>
                        <a:t>, </a:t>
                      </a:r>
                      <a:r>
                        <a:rPr lang="ru-RU" sz="1100" dirty="0" err="1"/>
                        <a:t>швидке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оновлення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інтерфейсу</a:t>
                      </a:r>
                      <a:r>
                        <a:rPr lang="ru-RU" sz="1100" dirty="0"/>
                        <a:t>, велика </a:t>
                      </a:r>
                      <a:r>
                        <a:rPr lang="ru-RU" sz="1100" dirty="0" err="1"/>
                        <a:t>екосистема</a:t>
                      </a:r>
                      <a:endParaRPr lang="ru-R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/>
                        <a:t>Великий </a:t>
                      </a:r>
                      <a:r>
                        <a:rPr lang="ru-RU" sz="1100" dirty="0" err="1"/>
                        <a:t>розмір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бібліотек</a:t>
                      </a:r>
                      <a:r>
                        <a:rPr lang="ru-RU" sz="1100" dirty="0"/>
                        <a:t>, </a:t>
                      </a:r>
                      <a:r>
                        <a:rPr lang="ru-RU" sz="1100" dirty="0" err="1"/>
                        <a:t>потребує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оптимізації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продуктивності</a:t>
                      </a:r>
                      <a:endParaRPr lang="ru-RU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464635"/>
                  </a:ext>
                </a:extLst>
              </a:tr>
              <a:tr h="528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Redis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/>
                        <a:t>Дуже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швидке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кешування</a:t>
                      </a:r>
                      <a:r>
                        <a:rPr lang="ru-RU" sz="1100" dirty="0"/>
                        <a:t>, </a:t>
                      </a:r>
                      <a:r>
                        <a:rPr lang="ru-RU" sz="1100" dirty="0" err="1"/>
                        <a:t>підтримка</a:t>
                      </a:r>
                      <a:r>
                        <a:rPr lang="ru-RU" sz="1100" dirty="0"/>
                        <a:t> TTL, </a:t>
                      </a:r>
                      <a:r>
                        <a:rPr lang="ru-RU" sz="1100" dirty="0" err="1"/>
                        <a:t>зменшує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навантаження</a:t>
                      </a:r>
                      <a:r>
                        <a:rPr lang="ru-RU" sz="1100" dirty="0"/>
                        <a:t> на БД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/>
                        <a:t>Дані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зберігаються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переважно</a:t>
                      </a:r>
                      <a:r>
                        <a:rPr lang="ru-RU" sz="1100" dirty="0"/>
                        <a:t> в </a:t>
                      </a:r>
                      <a:r>
                        <a:rPr lang="ru-RU" sz="1100" dirty="0" err="1"/>
                        <a:t>оперативній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пам'яті</a:t>
                      </a:r>
                      <a:endParaRPr lang="ru-RU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411405"/>
                  </a:ext>
                </a:extLst>
              </a:tr>
              <a:tr h="528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JWT + WebSocket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/>
                        <a:t>Безстанна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автентифікація</a:t>
                      </a:r>
                      <a:r>
                        <a:rPr lang="ru-RU" sz="1100" dirty="0"/>
                        <a:t>, </a:t>
                      </a:r>
                      <a:r>
                        <a:rPr lang="ru-RU" sz="1100" dirty="0" err="1"/>
                        <a:t>підтримка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передачі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даних</a:t>
                      </a:r>
                      <a:r>
                        <a:rPr lang="ru-RU" sz="1100" dirty="0"/>
                        <a:t> у реальному </a:t>
                      </a:r>
                      <a:r>
                        <a:rPr lang="ru-RU" sz="1100" dirty="0" err="1"/>
                        <a:t>часі</a:t>
                      </a:r>
                      <a:endParaRPr lang="ru-R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/>
                        <a:t>Потребує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додаткового</a:t>
                      </a:r>
                      <a:r>
                        <a:rPr lang="ru-RU" sz="1100" dirty="0"/>
                        <a:t> контролю </a:t>
                      </a:r>
                      <a:r>
                        <a:rPr lang="ru-RU" sz="1100" dirty="0" err="1"/>
                        <a:t>безпеки</a:t>
                      </a:r>
                      <a:r>
                        <a:rPr lang="ru-RU" sz="1100" dirty="0"/>
                        <a:t> та </a:t>
                      </a:r>
                      <a:r>
                        <a:rPr lang="ru-RU" sz="1100" dirty="0" err="1"/>
                        <a:t>обробки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перепідключень</a:t>
                      </a:r>
                      <a:endParaRPr lang="ru-RU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72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09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бази даних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Реляційна модель PostgreSQL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52728"/>
            <a:ext cx="2011680" cy="877824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96012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005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252728"/>
            <a:ext cx="2011680" cy="877824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length_km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96012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005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252728"/>
            <a:ext cx="2011680" cy="877824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260604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27632" y="26517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RouteStop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2898648"/>
            <a:ext cx="2011680" cy="658368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45920" y="3145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stop_order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80960" y="96012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1005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1252728"/>
            <a:ext cx="2011680" cy="877824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20040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2461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493008"/>
            <a:ext cx="2011680" cy="1316736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3739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3959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178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departure_time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398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actual_arrival_time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617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delay_minutes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0" y="320040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32461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StopTime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3493008"/>
            <a:ext cx="201168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schedule_id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20640" y="3739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stop_id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0640" y="3959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arrival_time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20640" y="4178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departure_time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20640" y="4398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stop_order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1480" y="47777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RouteStop — зв’язок «багато-до-багатьох» між Route і Stop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Підсистема штучного інтелекту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Fine-tuned LLM + PII 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572000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Документи бази знань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Генерація embedding-векторів (sentence-transformers)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Збереження у ChromaDB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620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Запит користувача → векторний пошук (косинусна подібність)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Топ-5 документів + контекст → LLM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8679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Відповідь через Server-Sent Events (streaming)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960120"/>
            <a:ext cx="361188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0241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8B (fine-tuned)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3533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Квантизація 4-bit (зменшення VRAM)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57800" y="15910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Fine-tuning: LoRA лише на attention layers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57800" y="182880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Датасет: транспортна тематика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57800" y="20665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Хостинг: Modal Cloud (GPU)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57800" y="230428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Артефакти: Hugging Face Hub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2788920"/>
            <a:ext cx="361188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852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(Microsoft Presidio)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1821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Аналіз тексту до відправки в LLM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57800" y="34198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Блокування: паспорти серії XX 000000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57800" y="365760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Блокування: номери банківських карток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57800" y="38953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Кастомні регулярні вирази для UA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57800" y="413308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≥ threshold → повідомлення блокується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алгоритми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Реалізовані рішення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4023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6070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відправлень між зупинками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1208" y="1316736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Подвійне JOIN StopTime через SQLAlchemy Aliases: знаходить рейси де stop_order(A) &lt; stop_order(B) в межах одного Schedule.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023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06070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затримка маршруту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27448" y="1316736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останніх 10 рейсів: delta = actual_arrival − scheduled_arrival (хв). Результат → аналітика пунктуальності диспетчера.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4023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5798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JWT-автентифікація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" y="2414016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Безстанна авторизація: токен містить user_id + exp. Верифікація на кожному захищеному endpoint без зберігання сесії на сервері.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2084832"/>
            <a:ext cx="4023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15798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відповіді (SSE)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414016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+ Python async generator: клієнт отримує chunk-и тексту одразу під час генерації LLM, без очікування повної відповіді.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182112"/>
            <a:ext cx="4023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25526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декоратор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" y="3511296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Автоматичні повторні спроби при InternalServerError зовнішніх API (Modal / OpenAI). Конфігурується: times=3, exceptions=(...)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3182112"/>
            <a:ext cx="4023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25526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діалог-менеджер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3511296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user:chat:{id} → JSON-масив повідомлень. TTL забезпечує автоматичне очищення. Підтримка контексту без навантаження на PostgreSQL.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серцевина бекенду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async + чому цей фреймворк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обирається над Flask/Django через підтримку asyncio: при I/O-очікуванні (БД, LLM API, GPS) event loop не блокується, що критично для real-time транспортної системи з великою кількістю одночасних WebSocket-з'єднань.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4023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98424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Pydantic-валідація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2212848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вхідні дані автоматично парсяться й валідуються через схеми — помилки виникають на рівні типів до потрапляння у БД.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920240"/>
            <a:ext cx="4023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98424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27448" y="2212848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get_db() як залежність: кожен запит отримує власну DB-сесію, що автоматично закривається після відповіді.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4023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825496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" y="3054096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Документація генерується автоматично. Під час розробки та тестування — готовий інтерактивний API-клієнт.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761488"/>
            <a:ext cx="4023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825496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27448" y="3054096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Довгі операції (наприклад, індексація документів для RAG) виконуються у фоні без блокування відповіді клієнту.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602736"/>
            <a:ext cx="4023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666744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SQLAdmin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" y="3895344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Адмін-панель для управління сутностями БД без прямого SQL — підключена як ASGI middleware до FastAPI.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3602736"/>
            <a:ext cx="4023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3666744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Security Headers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27448" y="3895344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Налаштований middleware для захисту від cross-origin атак та передачі токенів через Authorization header.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геолокації в реальному часі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PostgreSQL + Карта Leaflet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69164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8016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Водій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(Android GPS)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75688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16916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28016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Server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41648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1143000"/>
            <a:ext cx="16916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28016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position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07608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3640" y="1143000"/>
            <a:ext cx="16916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28016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Broadcast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клієнтів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73568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0" y="1143000"/>
            <a:ext cx="169164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28016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148840"/>
            <a:ext cx="402336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22199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у WS Handshake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" y="247802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передається як query-параметр під час встановлення WebSocket-з'єднання. Неавторизовані підключення відхиляються на старті.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148840"/>
            <a:ext cx="402336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22199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по каналах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247802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маршрут — окремий channel. Оновлення позиції транспорту розсилаються тільки підписаним на цей маршрут клієнтам.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54680"/>
            <a:ext cx="402336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22783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" y="348386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транспортних засобів оновлюються без перезавантаження сторінки. Анімація переміщення між GPS-точками.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154680"/>
            <a:ext cx="402336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22783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on disconnect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348386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розриві WS-з'єднання клієнт автоматично перепідключається з експоненціальною затримкою.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Функціональні модулі та інтерфейс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 модель доступу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65176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Пасажир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35024"/>
            <a:ext cx="2651760" cy="3035808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26464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Пошук маршруту між зупинками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1984248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Інтерактивна карта з GPS-позиціями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542032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Розклади та прогноз прибуття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09981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AI-помічник (чат)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3657600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Реєстрація / логін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987552"/>
            <a:ext cx="2651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051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35024"/>
            <a:ext cx="2651760" cy="3035808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426464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Моніторинг транспорту в реальному часі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984248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Контроль дотримання графіку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542032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Аналітика затримок по маршрутах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309981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Журнал подій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3657600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Коригування розкладів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987552"/>
            <a:ext cx="26517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051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Адміністратор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1335024"/>
            <a:ext cx="2651760" cy="3035808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426464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маршрутів / зупинок / ТЗ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99048" y="1984248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Управління розкладами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9048" y="2542032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SQLAdmin панель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309981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Управління користувачами та ролями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99048" y="3657600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Статистичні звіти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7960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React + Material UI (web) · Kotlin + Jetpack Compose (Android) · SQLAdmin (admin panel)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системи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Юніт-тести · Інтеграційні тести · AI-евалюація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2336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99669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Юніт-тести (pytest)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252728"/>
            <a:ext cx="4023360" cy="1627632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30759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Кожен сервіс бізнес-логіки тестується ізольовано через mock-об'єкти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16916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Перевірка: розрахунок затримок, пошук маршрутів, логіка PII-фільтрації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07568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Фікстури замінюють реальну БД — тести детерміновані та швидкі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45973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Покриття критичних шляхів: happy path + граничні значення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402336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99669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Інтеграційні тести (httpx)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252728"/>
            <a:ext cx="4023360" cy="1627632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30759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endpoints тестуються через AsyncClient на тестовій PostgreSQL БД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7448" y="16916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Перевірка: аутентифікація JWT, CRUD маршрутів/зупинок/розкладів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27448" y="207568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WebSocket: перевірка встановлення з'єднання та отримання GPS-подій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7448" y="245973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Автоматичне піднімання та очищення тестової схеми через Alembic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017520"/>
            <a:ext cx="83210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17520"/>
            <a:ext cx="83210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54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AI-евалюація відповідей — оцінка через інший ШІ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Підхід: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71600" y="34015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Відповіді Llama 3.2 (fine-tuned) оцінюються незалежною моделлю (GPT-4 / Claude) за критеріями: релевантність, точність, повнота.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0" y="383133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Людська оцінка суб'єктивна й повільна. LLM-евалюатор дає відтворюваний числовий score і може перевірити сотні відповідей автоматично.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2611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71600" y="426110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1–5 по кожному критерію; середнє по тестовій вибірці транспортних запитань; порівняння до та після fine-tuning.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деталі реалізації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Стратегія чанкінгу · Перефразування запиту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160520" cy="38404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"/>
            <a:ext cx="41605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96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Стратегія чанкінгу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3441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документ = 1 чанк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81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документ бази знань зберігається як єдиний неподільний вектор у ChromaDB.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не потрібен спліттер?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Наявні документи відносно невеликі за обсягом. Порівняно з контекстним вікном сучасних LLM (128k+ токенів) — навіть кілька таких документів разом не перевищують ліміт.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0449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 підходу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8269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ризику розрізати важливий контекст посередині. Пошук повертає повні, семантично цілісні одиниці інформації.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8953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Майбутнє масштабування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3308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додаванні великих документів (PDF-інструкції, регламенти) — планується впровадження recursive text splitter із перекриттям чанків.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3977640" cy="38404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960120"/>
            <a:ext cx="39776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96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Перефразування запиту (Query Rewriting)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134416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5819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пише «він» або «там», не називаючи маршрут чи зупинку — звичайний пошук не знайде нічого релевантного.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43230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векторним пошуком надсилається окремий запит до LLM з останніми N повідомленнями діалогу та інструкцією розкрити займенники до конкретних сутностей.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04495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28269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"Коли він відправляється?" + [з попередніх: "маршрут 14е"] → "Коли маршрут 14е відправляється зі зупинки Центр?"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8953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1330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отримує точний, розгорнутий запит — якість знайдених чанків суттєво зростає, відповідь стає конкретнішою.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та перспективи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реалізовано та що далі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96596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Реалізовані результати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Повнофункціональна клієнт-серверна система: REST API (FastAPI) + React.js Web + Android (Kotlin + Jetpack Compose)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6550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відстеження транспорту через WebSocket; захист через JWT; адмін-панель SQLAdmin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AI-підсистема: Llama 3.2 8B fine-tuned з LoRA + RAG (ChromaDB) + Streaming SSE + PII Detection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Хмарне розгортання: Railway (backend) + Vercel (frontend) + Modal (LLM GPU) + Hugging Face (model registry)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426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Результати тестування: GET ~120 мс, стабільність при навантаженні, авторська заявка на свідоцтво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402336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Планові покращення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38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Оптимізація SQL-запитів: індекси на часто фільтровані поля (route_id, stop_id, departure_time)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Перехід на Docker Compose + GitHub Actions CI/CD — відтворюване та автоматизоване розгортання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Recursive text splitter для великих документів у RAG при розширенні бази знань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Кешування популярних маршрутних запитів у Redis для зниження навантаження на БД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411480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Стратегічні перспективи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Прогнозування пасажиропотоку та оптимізація маршрутів через 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Інтеграція з GPS-трекерами та системами електронної оплати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SaaS-модель: підписки для транспортних підприємств і міськрад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Підтримка GTFS-стандарту, розширення на метро та залізницю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90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5753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1767</Words>
  <Application>Microsoft Office PowerPoint</Application>
  <PresentationFormat>Экран (16:9)</PresentationFormat>
  <Paragraphs>279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Александр Елизаренко</cp:lastModifiedBy>
  <cp:revision>7</cp:revision>
  <dcterms:created xsi:type="dcterms:W3CDTF">2026-07-13T13:26:43Z</dcterms:created>
  <dcterms:modified xsi:type="dcterms:W3CDTF">2026-07-14T14:07:37Z</dcterms:modified>
</cp:coreProperties>
</file>